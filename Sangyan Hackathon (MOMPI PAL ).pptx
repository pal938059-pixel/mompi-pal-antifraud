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4a" ContentType="audio/mp4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2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668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46100" y="-4763"/>
            <a:ext cx="5014912" cy="6862763"/>
            <a:chOff x="2928938" y="-4763"/>
            <a:chExt cx="5014912" cy="6862763"/>
          </a:xfrm>
        </p:grpSpPr>
        <p:sp>
          <p:nvSpPr>
            <p:cNvPr id="22" name="Freeform 6"/>
            <p:cNvSpPr/>
            <p:nvPr/>
          </p:nvSpPr>
          <p:spPr bwMode="auto">
            <a:xfrm>
              <a:off x="3367088" y="-4763"/>
              <a:ext cx="1063625" cy="2782888"/>
            </a:xfrm>
            <a:custGeom>
              <a:avLst/>
              <a:gdLst/>
              <a:ahLst/>
              <a:cxnLst/>
              <a:rect l="0" t="0" r="r" b="b"/>
              <a:pathLst>
                <a:path w="670" h="1753">
                  <a:moveTo>
                    <a:pt x="0" y="1696"/>
                  </a:moveTo>
                  <a:lnTo>
                    <a:pt x="225" y="1753"/>
                  </a:lnTo>
                  <a:lnTo>
                    <a:pt x="670" y="0"/>
                  </a:lnTo>
                  <a:lnTo>
                    <a:pt x="430" y="0"/>
                  </a:lnTo>
                  <a:lnTo>
                    <a:pt x="0" y="1696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23" name="Freeform 7"/>
            <p:cNvSpPr/>
            <p:nvPr/>
          </p:nvSpPr>
          <p:spPr bwMode="auto">
            <a:xfrm>
              <a:off x="2928938" y="-4763"/>
              <a:ext cx="1035050" cy="2673350"/>
            </a:xfrm>
            <a:custGeom>
              <a:avLst/>
              <a:gdLst/>
              <a:ahLst/>
              <a:cxnLst/>
              <a:rect l="0" t="0" r="r" b="b"/>
              <a:pathLst>
                <a:path w="652" h="1684">
                  <a:moveTo>
                    <a:pt x="225" y="1684"/>
                  </a:moveTo>
                  <a:lnTo>
                    <a:pt x="652" y="0"/>
                  </a:lnTo>
                  <a:lnTo>
                    <a:pt x="411" y="0"/>
                  </a:lnTo>
                  <a:lnTo>
                    <a:pt x="0" y="1627"/>
                  </a:lnTo>
                  <a:lnTo>
                    <a:pt x="219" y="1681"/>
                  </a:lnTo>
                  <a:lnTo>
                    <a:pt x="225" y="1684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24" name="Freeform 9"/>
            <p:cNvSpPr/>
            <p:nvPr/>
          </p:nvSpPr>
          <p:spPr bwMode="auto">
            <a:xfrm>
              <a:off x="2928938" y="2582862"/>
              <a:ext cx="2693987" cy="4275138"/>
            </a:xfrm>
            <a:custGeom>
              <a:avLst/>
              <a:gdLst/>
              <a:ahLst/>
              <a:cxnLst/>
              <a:rect l="0" t="0" r="r" b="b"/>
              <a:pathLst>
                <a:path w="1697" h="2693">
                  <a:moveTo>
                    <a:pt x="0" y="0"/>
                  </a:moveTo>
                  <a:lnTo>
                    <a:pt x="1622" y="2693"/>
                  </a:lnTo>
                  <a:lnTo>
                    <a:pt x="1697" y="26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25" name="Freeform 10"/>
            <p:cNvSpPr/>
            <p:nvPr/>
          </p:nvSpPr>
          <p:spPr bwMode="auto">
            <a:xfrm>
              <a:off x="3371850" y="2692400"/>
              <a:ext cx="3332162" cy="4165600"/>
            </a:xfrm>
            <a:custGeom>
              <a:avLst/>
              <a:gdLst/>
              <a:ahLst/>
              <a:cxnLst/>
              <a:rect l="0" t="0" r="r" b="b"/>
              <a:pathLst>
                <a:path w="2099" h="2624">
                  <a:moveTo>
                    <a:pt x="2099" y="2624"/>
                  </a:moveTo>
                  <a:lnTo>
                    <a:pt x="0" y="0"/>
                  </a:lnTo>
                  <a:lnTo>
                    <a:pt x="2021" y="2624"/>
                  </a:lnTo>
                  <a:lnTo>
                    <a:pt x="2099" y="2624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26" name="Freeform 11"/>
            <p:cNvSpPr/>
            <p:nvPr/>
          </p:nvSpPr>
          <p:spPr bwMode="auto">
            <a:xfrm>
              <a:off x="3367088" y="2687637"/>
              <a:ext cx="4576762" cy="4170363"/>
            </a:xfrm>
            <a:custGeom>
              <a:avLst/>
              <a:gdLst/>
              <a:ahLst/>
              <a:cxnLst/>
              <a:rect l="0" t="0" r="r" b="b"/>
              <a:pathLst>
                <a:path w="2883" h="2627">
                  <a:moveTo>
                    <a:pt x="0" y="0"/>
                  </a:moveTo>
                  <a:lnTo>
                    <a:pt x="3" y="3"/>
                  </a:lnTo>
                  <a:lnTo>
                    <a:pt x="2102" y="2627"/>
                  </a:lnTo>
                  <a:lnTo>
                    <a:pt x="2883" y="2627"/>
                  </a:lnTo>
                  <a:lnTo>
                    <a:pt x="225" y="5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27" name="Freeform 12"/>
            <p:cNvSpPr/>
            <p:nvPr/>
          </p:nvSpPr>
          <p:spPr bwMode="auto">
            <a:xfrm>
              <a:off x="2928938" y="2578100"/>
              <a:ext cx="3584575" cy="4279900"/>
            </a:xfrm>
            <a:custGeom>
              <a:avLst/>
              <a:gdLst/>
              <a:ahLst/>
              <a:cxnLst/>
              <a:rect l="0" t="0" r="r" b="b"/>
              <a:pathLst>
                <a:path w="2258" h="2696">
                  <a:moveTo>
                    <a:pt x="2258" y="2696"/>
                  </a:moveTo>
                  <a:lnTo>
                    <a:pt x="264" y="111"/>
                  </a:lnTo>
                  <a:lnTo>
                    <a:pt x="228" y="60"/>
                  </a:lnTo>
                  <a:lnTo>
                    <a:pt x="225" y="57"/>
                  </a:lnTo>
                  <a:lnTo>
                    <a:pt x="0" y="0"/>
                  </a:lnTo>
                  <a:lnTo>
                    <a:pt x="0" y="3"/>
                  </a:lnTo>
                  <a:lnTo>
                    <a:pt x="1697" y="2696"/>
                  </a:lnTo>
                  <a:lnTo>
                    <a:pt x="2258" y="2696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28401" y="1380068"/>
            <a:ext cx="8574622" cy="2616199"/>
          </a:xfrm>
        </p:spPr>
        <p:txBody>
          <a:bodyPr anchor="b">
            <a:normAutofit/>
          </a:bodyPr>
          <a:lstStyle>
            <a:lvl1pPr algn="r">
              <a:defRPr sz="60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15377" y="3996267"/>
            <a:ext cx="6987645" cy="1388534"/>
          </a:xfrm>
        </p:spPr>
        <p:txBody>
          <a:bodyPr anchor="t">
            <a:normAutofit/>
          </a:bodyPr>
          <a:lstStyle>
            <a:lvl1pPr marL="0" indent="0" algn="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332412" y="5883275"/>
            <a:ext cx="4324044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0420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951856" y="5867131"/>
            <a:ext cx="551167" cy="365125"/>
          </a:xfrm>
        </p:spPr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35275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2279" y="2666999"/>
            <a:ext cx="8930747" cy="2110382"/>
          </a:xfrm>
        </p:spPr>
        <p:txBody>
          <a:bodyPr anchor="b"/>
          <a:lstStyle>
            <a:lvl1pPr algn="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72278" y="4777381"/>
            <a:ext cx="8930748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9145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312" y="2666999"/>
            <a:ext cx="4895055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607967" y="2667000"/>
            <a:ext cx="4895056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060442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2179" y="2658533"/>
            <a:ext cx="4607188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4311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880487" y="2667000"/>
            <a:ext cx="462253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607967" y="3335337"/>
            <a:ext cx="4895056" cy="2455862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89403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31861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859780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1600200"/>
            <a:ext cx="3549121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262033" y="685799"/>
            <a:ext cx="6240990" cy="5105401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2" y="2971800"/>
            <a:ext cx="3549121" cy="18288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79394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2724" y="1752599"/>
            <a:ext cx="5426158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94682" y="914400"/>
            <a:ext cx="3280974" cy="4572000"/>
          </a:xfrm>
          <a:prstGeom prst="roundRect">
            <a:avLst>
              <a:gd name="adj" fmla="val 42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2724" y="3124199"/>
            <a:ext cx="5426158" cy="1828800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0458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1" y="4732865"/>
            <a:ext cx="10018711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3860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4311" y="5299603"/>
            <a:ext cx="10018711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61107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2" y="685800"/>
            <a:ext cx="10018711" cy="304800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343400"/>
            <a:ext cx="10018713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2723688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436811" y="3428999"/>
            <a:ext cx="8532815" cy="381000"/>
          </a:xfrm>
        </p:spPr>
        <p:txBody>
          <a:bodyPr anchor="ctr">
            <a:normAutofit/>
          </a:bodyPr>
          <a:lstStyle>
            <a:lvl1pPr marL="0" indent="0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1" cy="1447800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704936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3308581"/>
            <a:ext cx="10018709" cy="1468800"/>
          </a:xfrm>
        </p:spPr>
        <p:txBody>
          <a:bodyPr anchor="b">
            <a:normAutofit/>
          </a:bodyPr>
          <a:lstStyle>
            <a:lvl1pPr algn="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7381"/>
            <a:ext cx="10018710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53721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1598612" y="863023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93425" y="2819399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08212" y="685800"/>
            <a:ext cx="8990012" cy="2743199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3" y="3886200"/>
            <a:ext cx="10018710" cy="889000"/>
          </a:xfrm>
        </p:spPr>
        <p:txBody>
          <a:bodyPr vert="horz" lIns="91440" tIns="45720" rIns="91440" bIns="45720" rtlCol="0" anchor="b">
            <a:normAutofit/>
          </a:bodyPr>
          <a:lstStyle>
            <a:lvl1pPr algn="r">
              <a:buNone/>
              <a:defRPr lang="en-US" sz="24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2" y="4775200"/>
            <a:ext cx="10018710" cy="1016000"/>
          </a:xfrm>
        </p:spPr>
        <p:txBody>
          <a:bodyPr anchor="t">
            <a:normAutofit/>
          </a:bodyPr>
          <a:lstStyle>
            <a:lvl1pPr marL="0" indent="0" algn="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9929455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4313" y="685800"/>
            <a:ext cx="10018712" cy="272732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84312" y="3505200"/>
            <a:ext cx="10018713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none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1" y="4343400"/>
            <a:ext cx="10018713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29566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73750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732655" y="685800"/>
            <a:ext cx="1770369" cy="5105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312" y="685800"/>
            <a:ext cx="8019742" cy="5105400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403270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50812" y="0"/>
            <a:ext cx="2436813" cy="6858001"/>
            <a:chOff x="1320800" y="0"/>
            <a:chExt cx="2436813" cy="6858001"/>
          </a:xfrm>
        </p:grpSpPr>
        <p:sp>
          <p:nvSpPr>
            <p:cNvPr id="8" name="Freeform 6"/>
            <p:cNvSpPr/>
            <p:nvPr/>
          </p:nvSpPr>
          <p:spPr bwMode="auto">
            <a:xfrm>
              <a:off x="1627188" y="0"/>
              <a:ext cx="1122363" cy="5329238"/>
            </a:xfrm>
            <a:custGeom>
              <a:avLst/>
              <a:gdLst/>
              <a:ahLst/>
              <a:cxnLst/>
              <a:rect l="0" t="0" r="r" b="b"/>
              <a:pathLst>
                <a:path w="707" h="3357">
                  <a:moveTo>
                    <a:pt x="0" y="3330"/>
                  </a:moveTo>
                  <a:lnTo>
                    <a:pt x="156" y="3357"/>
                  </a:lnTo>
                  <a:lnTo>
                    <a:pt x="707" y="0"/>
                  </a:lnTo>
                  <a:lnTo>
                    <a:pt x="547" y="0"/>
                  </a:lnTo>
                  <a:lnTo>
                    <a:pt x="0" y="333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</p:sp>
        <p:sp>
          <p:nvSpPr>
            <p:cNvPr id="9" name="Freeform 7"/>
            <p:cNvSpPr/>
            <p:nvPr/>
          </p:nvSpPr>
          <p:spPr bwMode="auto">
            <a:xfrm>
              <a:off x="1320800" y="0"/>
              <a:ext cx="1117600" cy="5276850"/>
            </a:xfrm>
            <a:custGeom>
              <a:avLst/>
              <a:gdLst/>
              <a:ahLst/>
              <a:cxnLst/>
              <a:rect l="0" t="0" r="r" b="b"/>
              <a:pathLst>
                <a:path w="704" h="3324">
                  <a:moveTo>
                    <a:pt x="704" y="0"/>
                  </a:moveTo>
                  <a:lnTo>
                    <a:pt x="545" y="0"/>
                  </a:lnTo>
                  <a:lnTo>
                    <a:pt x="0" y="3300"/>
                  </a:lnTo>
                  <a:lnTo>
                    <a:pt x="157" y="3324"/>
                  </a:lnTo>
                  <a:lnTo>
                    <a:pt x="704" y="0"/>
                  </a:lnTo>
                  <a:close/>
                </a:path>
              </a:pathLst>
            </a:cu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</p:sp>
        <p:sp>
          <p:nvSpPr>
            <p:cNvPr id="10" name="Freeform 8"/>
            <p:cNvSpPr/>
            <p:nvPr/>
          </p:nvSpPr>
          <p:spPr bwMode="auto">
            <a:xfrm>
              <a:off x="1320800" y="5238750"/>
              <a:ext cx="1228725" cy="1619250"/>
            </a:xfrm>
            <a:custGeom>
              <a:avLst/>
              <a:gdLst/>
              <a:ahLst/>
              <a:cxnLst/>
              <a:rect l="0" t="0" r="r" b="b"/>
              <a:pathLst>
                <a:path w="774" h="1020">
                  <a:moveTo>
                    <a:pt x="0" y="0"/>
                  </a:moveTo>
                  <a:lnTo>
                    <a:pt x="740" y="1020"/>
                  </a:lnTo>
                  <a:lnTo>
                    <a:pt x="774" y="102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1">
                <a:lumMod val="85000"/>
                <a:lumOff val="15000"/>
              </a:schemeClr>
            </a:solidFill>
            <a:ln>
              <a:noFill/>
            </a:ln>
          </p:spPr>
        </p:sp>
        <p:sp>
          <p:nvSpPr>
            <p:cNvPr id="11" name="Freeform 9"/>
            <p:cNvSpPr/>
            <p:nvPr/>
          </p:nvSpPr>
          <p:spPr bwMode="auto">
            <a:xfrm>
              <a:off x="1627188" y="5291138"/>
              <a:ext cx="1495425" cy="1566863"/>
            </a:xfrm>
            <a:custGeom>
              <a:avLst/>
              <a:gdLst/>
              <a:ahLst/>
              <a:cxnLst/>
              <a:rect l="0" t="0" r="r" b="b"/>
              <a:pathLst>
                <a:path w="942" h="987">
                  <a:moveTo>
                    <a:pt x="0" y="0"/>
                  </a:moveTo>
                  <a:lnTo>
                    <a:pt x="909" y="987"/>
                  </a:lnTo>
                  <a:lnTo>
                    <a:pt x="942" y="9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</p:spPr>
        </p:sp>
        <p:sp>
          <p:nvSpPr>
            <p:cNvPr id="12" name="Freeform 10"/>
            <p:cNvSpPr/>
            <p:nvPr/>
          </p:nvSpPr>
          <p:spPr bwMode="auto">
            <a:xfrm>
              <a:off x="1627188" y="5286375"/>
              <a:ext cx="2130425" cy="1571625"/>
            </a:xfrm>
            <a:custGeom>
              <a:avLst/>
              <a:gdLst/>
              <a:ahLst/>
              <a:cxnLst/>
              <a:rect l="0" t="0" r="r" b="b"/>
              <a:pathLst>
                <a:path w="1342" h="990">
                  <a:moveTo>
                    <a:pt x="0" y="3"/>
                  </a:moveTo>
                  <a:lnTo>
                    <a:pt x="942" y="990"/>
                  </a:lnTo>
                  <a:lnTo>
                    <a:pt x="1342" y="990"/>
                  </a:lnTo>
                  <a:lnTo>
                    <a:pt x="156" y="27"/>
                  </a:lnTo>
                  <a:lnTo>
                    <a:pt x="0" y="0"/>
                  </a:lnTo>
                  <a:lnTo>
                    <a:pt x="0" y="3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>
              <a:noFill/>
            </a:ln>
          </p:spPr>
        </p:sp>
        <p:sp>
          <p:nvSpPr>
            <p:cNvPr id="13" name="Freeform 11"/>
            <p:cNvSpPr/>
            <p:nvPr/>
          </p:nvSpPr>
          <p:spPr bwMode="auto">
            <a:xfrm>
              <a:off x="1320800" y="5238750"/>
              <a:ext cx="1695450" cy="1619250"/>
            </a:xfrm>
            <a:custGeom>
              <a:avLst/>
              <a:gdLst/>
              <a:ahLst/>
              <a:cxnLst/>
              <a:rect l="0" t="0" r="r" b="b"/>
              <a:pathLst>
                <a:path w="1068" h="1020">
                  <a:moveTo>
                    <a:pt x="1068" y="1020"/>
                  </a:moveTo>
                  <a:lnTo>
                    <a:pt x="184" y="60"/>
                  </a:lnTo>
                  <a:lnTo>
                    <a:pt x="154" y="27"/>
                  </a:lnTo>
                  <a:lnTo>
                    <a:pt x="157" y="27"/>
                  </a:lnTo>
                  <a:lnTo>
                    <a:pt x="157" y="24"/>
                  </a:lnTo>
                  <a:lnTo>
                    <a:pt x="154" y="24"/>
                  </a:lnTo>
                  <a:lnTo>
                    <a:pt x="0" y="0"/>
                  </a:lnTo>
                  <a:lnTo>
                    <a:pt x="0" y="0"/>
                  </a:lnTo>
                  <a:lnTo>
                    <a:pt x="774" y="1020"/>
                  </a:lnTo>
                  <a:lnTo>
                    <a:pt x="1068" y="1020"/>
                  </a:ln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311" y="685800"/>
            <a:ext cx="10018713" cy="1752599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310" y="2666999"/>
            <a:ext cx="10018713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732656" y="5883275"/>
            <a:ext cx="11430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3DC7BF81-7D09-4B87-9D7F-40D79B1DD509}" type="datetimeFigureOut">
              <a:rPr lang="en-IN" smtClean="0"/>
              <a:t>04-10-2026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2279" y="5883275"/>
            <a:ext cx="708417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951856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DB311C9F-3C4D-4F0E-B9CA-143DA137974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9497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7" r:id="rId1"/>
    <p:sldLayoutId id="2147483928" r:id="rId2"/>
    <p:sldLayoutId id="2147483929" r:id="rId3"/>
    <p:sldLayoutId id="2147483930" r:id="rId4"/>
    <p:sldLayoutId id="2147483931" r:id="rId5"/>
    <p:sldLayoutId id="2147483932" r:id="rId6"/>
    <p:sldLayoutId id="2147483933" r:id="rId7"/>
    <p:sldLayoutId id="2147483934" r:id="rId8"/>
    <p:sldLayoutId id="2147483935" r:id="rId9"/>
    <p:sldLayoutId id="2147483936" r:id="rId10"/>
    <p:sldLayoutId id="2147483937" r:id="rId11"/>
    <p:sldLayoutId id="2147483938" r:id="rId12"/>
    <p:sldLayoutId id="2147483939" r:id="rId13"/>
    <p:sldLayoutId id="2147483940" r:id="rId14"/>
    <p:sldLayoutId id="2147483941" r:id="rId15"/>
    <p:sldLayoutId id="2147483942" r:id="rId16"/>
    <p:sldLayoutId id="214748394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20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8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6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>
            <a:lumMod val="75000"/>
          </a:schemeClr>
        </a:buClr>
        <a:buSzPct val="145000"/>
        <a:buFont typeface="Arial"/>
        <a:buChar char="•"/>
        <a:defRPr sz="1400" kern="1200" cap="none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1.m4a"/><Relationship Id="rId1" Type="http://schemas.microsoft.com/office/2007/relationships/media" Target="../media/media1.m4a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audi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8570DA-C62A-4D56-AA3B-AE88BF7BFE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08617" y="110690"/>
            <a:ext cx="8374765" cy="2714325"/>
          </a:xfrm>
        </p:spPr>
        <p:txBody>
          <a:bodyPr>
            <a:normAutofit fontScale="90000"/>
          </a:bodyPr>
          <a:lstStyle/>
          <a:p>
            <a:r>
              <a:rPr lang="en-US" sz="96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Sangyan</a:t>
            </a:r>
            <a:r>
              <a:rPr lang="en-US" dirty="0"/>
              <a:t> </a:t>
            </a:r>
            <a:br>
              <a:rPr lang="en-US" dirty="0"/>
            </a:br>
            <a:r>
              <a:rPr lang="en-US" i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investor resilience hackathon</a:t>
            </a:r>
            <a:endParaRPr lang="en-IN" i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01E03A-65D6-4DD9-BC8A-F8E55042790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2" y="3041584"/>
            <a:ext cx="8689976" cy="3705726"/>
          </a:xfrm>
        </p:spPr>
        <p:txBody>
          <a:bodyPr>
            <a:normAutofit/>
          </a:bodyPr>
          <a:lstStyle/>
          <a:p>
            <a:r>
              <a:rPr lang="en-US" sz="4400" i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Digital fraud &amp; scam resilience </a:t>
            </a:r>
          </a:p>
          <a:p>
            <a:r>
              <a:rPr lang="en-US" sz="2400" b="1" i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Detecting , warning against ,and intercepting deceptive financial vectors before money changes hands.</a:t>
            </a:r>
            <a:endParaRPr lang="en-IN" sz="2400" b="1" i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pic>
        <p:nvPicPr>
          <p:cNvPr id="7" name="Recorded Sound">
            <a:hlinkClick r:id="" action="ppaction://media"/>
            <a:extLst>
              <a:ext uri="{FF2B5EF4-FFF2-40B4-BE49-F238E27FC236}">
                <a16:creationId xmlns:a16="http://schemas.microsoft.com/office/drawing/2014/main" id="{5A8B3601-4FDD-4879-9AE3-73965D21147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112770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328"/>
    </mc:Choice>
    <mc:Fallback>
      <p:transition spd="slow" advTm="4328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52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693CEF-10C1-460A-ADA3-93A517D854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15447" y="0"/>
            <a:ext cx="8604984" cy="1371599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Challenge track &amp; Mission </a:t>
            </a:r>
            <a:endParaRPr lang="en-IN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4E92BA-1F03-4EEE-BD21-4E9C1EE604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2131" y="1482290"/>
            <a:ext cx="6458551" cy="4610501"/>
          </a:xfrm>
        </p:spPr>
        <p:txBody>
          <a:bodyPr>
            <a:normAutofit fontScale="92500" lnSpcReduction="20000"/>
          </a:bodyPr>
          <a:lstStyle/>
          <a:p>
            <a:r>
              <a:rPr lang="en-US" sz="28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Stopping scams before money moves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9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Track A : </a:t>
            </a:r>
            <a:r>
              <a:rPr lang="en-US" sz="26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The challenge : intercepting fraudulent  investment vectors before  capital changes hands</a:t>
            </a:r>
            <a:r>
              <a:rPr lang="en-US" sz="26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9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The core threats </a:t>
            </a:r>
            <a:r>
              <a:rPr lang="en-US" sz="26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:  </a:t>
            </a:r>
            <a:r>
              <a:rPr lang="en-US" sz="26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Fake SEBI credentials , cloned broker portal , and deceptive social medium “ pump-and – dump” rings 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3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Our Mission </a:t>
            </a:r>
            <a:r>
              <a:rPr lang="en-US" sz="3300" dirty="0">
                <a:solidFill>
                  <a:srgbClr val="002060"/>
                </a:solidFill>
              </a:rPr>
              <a:t>: </a:t>
            </a:r>
            <a:r>
              <a:rPr lang="en-US" sz="26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Deploying an intelligent , proactive defense mechanism to safeguard retail investors</a:t>
            </a:r>
            <a:r>
              <a:rPr lang="en-US" sz="2800" cap="none" dirty="0">
                <a:solidFill>
                  <a:srgbClr val="002060"/>
                </a:solidFill>
                <a:latin typeface="Book Antiqua" panose="02040602050305030304" pitchFamily="18" charset="0"/>
              </a:rPr>
              <a:t>.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FF7079-960E-40EA-9FB8-118D7D7AA6A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35407" y="1482290"/>
            <a:ext cx="4954462" cy="4908885"/>
          </a:xfrm>
          <a:prstGeom prst="rect">
            <a:avLst/>
          </a:prstGeom>
          <a:ln>
            <a:noFill/>
          </a:ln>
          <a:effectLst>
            <a:softEdge rad="112500"/>
          </a:effectLst>
          <a:scene3d>
            <a:camera prst="perspectiveFront"/>
            <a:lightRig rig="threePt" dir="t"/>
          </a:scene3d>
        </p:spPr>
      </p:pic>
      <p:pic>
        <p:nvPicPr>
          <p:cNvPr id="4" name="Video 3">
            <a:hlinkClick r:id="" action="ppaction://media"/>
            <a:extLst>
              <a:ext uri="{FF2B5EF4-FFF2-40B4-BE49-F238E27FC236}">
                <a16:creationId xmlns:a16="http://schemas.microsoft.com/office/drawing/2014/main" id="{FBA5ADE3-6B9B-4737-9106-8BC81ACA6D6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  <p:ext uri="{42D2F446-02D8-4167-A562-619A0277C38B}">
                <p15:isNarration xmlns:p15="http://schemas.microsoft.com/office/powerpoint/2012/main" val="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906000" y="5143500"/>
            <a:ext cx="2285999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77389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327"/>
    </mc:Choice>
    <mc:Fallback>
      <p:transition spd="slow" advTm="6327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4446EE-38C3-41FA-AB14-B0E03E7EE0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96253"/>
            <a:ext cx="8689976" cy="150394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Problem statement </a:t>
            </a:r>
            <a:endParaRPr lang="en-IN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D36E85-5822-4972-B30D-2C156CF597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867302"/>
            <a:ext cx="6728059" cy="4600876"/>
          </a:xfrm>
        </p:spPr>
        <p:txBody>
          <a:bodyPr>
            <a:normAutofit/>
          </a:bodyPr>
          <a:lstStyle/>
          <a:p>
            <a:r>
              <a:rPr lang="en-US" sz="40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How everyday investors fall into invisible traps </a:t>
            </a:r>
            <a:r>
              <a:rPr lang="en-US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  <a:latin typeface="Book Antiqua" panose="02040602050305030304" pitchFamily="18" charset="0"/>
              </a:rPr>
              <a:t>Fake trust </a:t>
            </a:r>
            <a:r>
              <a:rPr lang="en-US" sz="24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: </a:t>
            </a:r>
            <a:r>
              <a:rPr lang="en-US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Scammers use fake SEBI ids and cloned websites.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8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SOCIAL MEDIA TRAP </a:t>
            </a:r>
            <a:r>
              <a:rPr lang="en-US" sz="24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: </a:t>
            </a:r>
            <a:r>
              <a:rPr lang="en-US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Fake WhatsApp and telegram groups pushing bad tips.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Late realization </a:t>
            </a:r>
            <a:r>
              <a:rPr lang="en-US" sz="2400" dirty="0">
                <a:solidFill>
                  <a:srgbClr val="002060"/>
                </a:solidFill>
                <a:latin typeface="Book Antiqua" panose="02040602050305030304" pitchFamily="18" charset="0"/>
              </a:rPr>
              <a:t>:</a:t>
            </a:r>
            <a:r>
              <a:rPr lang="en-US" dirty="0"/>
              <a:t> </a:t>
            </a:r>
            <a:r>
              <a:rPr lang="en-US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Victims find out the truth only after losing their money . </a:t>
            </a:r>
            <a:endParaRPr lang="en-IN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9A829C-8112-4178-855D-FBCBCEFAF2F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8198" y="1600201"/>
            <a:ext cx="4953802" cy="3838073"/>
          </a:xfrm>
          <a:prstGeom prst="rect">
            <a:avLst/>
          </a:prstGeom>
        </p:spPr>
      </p:pic>
      <p:pic>
        <p:nvPicPr>
          <p:cNvPr id="6" name="Video 5">
            <a:hlinkClick r:id="" action="ppaction://media"/>
            <a:extLst>
              <a:ext uri="{FF2B5EF4-FFF2-40B4-BE49-F238E27FC236}">
                <a16:creationId xmlns:a16="http://schemas.microsoft.com/office/drawing/2014/main" id="{235C394C-135B-4766-83E3-25E065C8F83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906000" y="5143500"/>
            <a:ext cx="2285999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61237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122"/>
    </mc:Choice>
    <mc:Fallback>
      <p:transition spd="slow" advTm="2122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55B87-1CF1-466C-97E9-70E0DA2A8A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83122" y="0"/>
            <a:ext cx="8355514" cy="1607418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Proposed solution </a:t>
            </a:r>
            <a:endParaRPr lang="en-IN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B44305-D1F6-4EE1-A9AA-F7A10ACDB4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876925"/>
            <a:ext cx="7045693" cy="4533499"/>
          </a:xfrm>
        </p:spPr>
        <p:txBody>
          <a:bodyPr>
            <a:normAutofit fontScale="92500" lnSpcReduction="10000"/>
          </a:bodyPr>
          <a:lstStyle/>
          <a:p>
            <a:r>
              <a:rPr lang="en-US" sz="40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Real- time intercepting before capital moves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Instant detection </a:t>
            </a:r>
            <a:r>
              <a:rPr lang="en-US" sz="28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: </a:t>
            </a:r>
            <a:r>
              <a:rPr lang="en-US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Scanning transaction pathways and digital touchpoints for clone portal or fake ID in milliseconds.</a:t>
            </a:r>
            <a:endParaRPr lang="en-US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Proactive warming </a:t>
            </a:r>
            <a:r>
              <a:rPr lang="en-US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:</a:t>
            </a:r>
            <a:r>
              <a:rPr lang="en-US" dirty="0"/>
              <a:t> </a:t>
            </a:r>
            <a:r>
              <a:rPr lang="en-US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Alerting the investor before they authorize any transfer to a fraudulent destination .</a:t>
            </a:r>
            <a:endParaRPr lang="en-US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Automated Block </a:t>
            </a:r>
            <a:r>
              <a:rPr lang="en-US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: </a:t>
            </a:r>
            <a:r>
              <a:rPr lang="en-US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Collaborating with digital ecosystem to freeze high –risk vectors instantly .</a:t>
            </a:r>
          </a:p>
          <a:p>
            <a:endParaRPr lang="en-IN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F2C19C6-4A81-415C-A590-9D858CC5A8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1078" y="2107933"/>
            <a:ext cx="4770922" cy="4533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37158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95"/>
    </mc:Choice>
    <mc:Fallback>
      <p:transition spd="slow" advTm="395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4C595-C5F2-4572-A50F-4C2ACCEC07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51012" y="77003"/>
            <a:ext cx="8201510" cy="1164656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How it works </a:t>
            </a:r>
            <a:endParaRPr lang="en-IN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D4E049-135E-4173-BB1D-2714139CFD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77002" y="2040556"/>
            <a:ext cx="6930189" cy="4354857"/>
          </a:xfrm>
        </p:spPr>
        <p:txBody>
          <a:bodyPr>
            <a:normAutofit fontScale="92500" lnSpcReduction="10000"/>
          </a:bodyPr>
          <a:lstStyle/>
          <a:p>
            <a:r>
              <a:rPr lang="en-US" sz="40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Technology &amp; workflow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Real-time scan </a:t>
            </a:r>
            <a:r>
              <a:rPr lang="en-US" sz="28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  <a:r>
              <a:rPr lang="en-US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Automatically analyses URLs, merchant IDS, and transaction details the moments an action is initiated 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40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Risk scoring </a:t>
            </a:r>
            <a:r>
              <a:rPr lang="en-US" sz="28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  <a:r>
              <a:rPr lang="en-US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Instantly calculates a fraud risk score based on fake credentials and blacklisted patterns.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3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Smart intercepting </a:t>
            </a:r>
            <a:r>
              <a:rPr lang="en-US" sz="28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  <a:r>
              <a:rPr lang="en-US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Triggers an immediate warning popup or blocks the transaction if the threat level is high .</a:t>
            </a:r>
            <a:endParaRPr lang="en-IN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8B9797-BBF9-4688-A088-9BBD6887E7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5575" y="1376413"/>
            <a:ext cx="4886425" cy="5265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7548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10"/>
    </mc:Choice>
    <mc:Fallback>
      <p:transition spd="slow" advTm="41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43846-CAFF-44D1-A29E-EB0A23F611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51526" y="-5859378"/>
            <a:ext cx="7932003" cy="6937407"/>
          </a:xfrm>
        </p:spPr>
        <p:txBody>
          <a:bodyPr/>
          <a:lstStyle/>
          <a:p>
            <a:r>
              <a:rPr lang="en-US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Impact &amp; benefits</a:t>
            </a:r>
            <a:r>
              <a:rPr lang="en-US" dirty="0"/>
              <a:t> 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38DC82-DFD7-41CA-B966-B2BAF801ED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771048"/>
            <a:ext cx="7488455" cy="4138864"/>
          </a:xfrm>
        </p:spPr>
        <p:txBody>
          <a:bodyPr>
            <a:normAutofit fontScale="85000" lnSpcReduction="10000"/>
          </a:bodyPr>
          <a:lstStyle/>
          <a:p>
            <a:r>
              <a:rPr lang="en-US" sz="40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Protecting capital , building digital trust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3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Proactive defense</a:t>
            </a:r>
            <a:r>
              <a:rPr lang="en-US" sz="28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: </a:t>
            </a:r>
            <a:r>
              <a:rPr lang="en-US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Stops financial fraud before money leaves the account , eliminating recovery hassles.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Investor confidence </a:t>
            </a:r>
            <a:r>
              <a:rPr lang="en-US" sz="28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: </a:t>
            </a:r>
            <a:r>
              <a:rPr lang="en-US" sz="24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Creates a safe digital ecosystem for everyday retail investors.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3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Scalable security </a:t>
            </a:r>
            <a:r>
              <a:rPr lang="en-US" sz="28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: </a:t>
            </a:r>
            <a:r>
              <a:rPr lang="en-US" sz="24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Easily integrates with existing platforms to safeguard millions od transactions seamlessly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83B886-38E7-4DF8-B8D4-4E534EB70F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6838" y="1973084"/>
            <a:ext cx="4328773" cy="4302588"/>
          </a:xfrm>
          <a:prstGeom prst="rect">
            <a:avLst/>
          </a:prstGeom>
        </p:spPr>
      </p:pic>
      <p:pic>
        <p:nvPicPr>
          <p:cNvPr id="6" name="Video 5">
            <a:hlinkClick r:id="" action="ppaction://media"/>
            <a:extLst>
              <a:ext uri="{FF2B5EF4-FFF2-40B4-BE49-F238E27FC236}">
                <a16:creationId xmlns:a16="http://schemas.microsoft.com/office/drawing/2014/main" id="{5B0B0238-163E-46A4-8E16-4BCC8029F9BA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906000" y="5143500"/>
            <a:ext cx="2285999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6157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2169"/>
    </mc:Choice>
    <mc:Fallback>
      <p:transition spd="slow" advTm="2169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 isNarration="1"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3C054-5DE0-4E76-B808-497A2A4122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9800" y="0"/>
            <a:ext cx="8692399" cy="981776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Conclusion</a:t>
            </a:r>
            <a:endParaRPr lang="en-IN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 Antiqua" panose="02040602050305030304" pitchFamily="18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10342C-4E27-4449-BA0D-C38FA5C1A8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1357163"/>
            <a:ext cx="7411454" cy="4966635"/>
          </a:xfrm>
        </p:spPr>
        <p:txBody>
          <a:bodyPr>
            <a:normAutofit fontScale="77500" lnSpcReduction="20000"/>
          </a:bodyPr>
          <a:lstStyle/>
          <a:p>
            <a:r>
              <a:rPr lang="en-US" sz="43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Building a fraud –resilient future for every investor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39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Mission ready </a:t>
            </a:r>
            <a:r>
              <a:rPr lang="en-US" sz="30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: </a:t>
            </a:r>
            <a:r>
              <a:rPr lang="en-US" sz="26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Deployment – ready proactive defense model built for track A 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3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Pilot phase </a:t>
            </a:r>
            <a:r>
              <a:rPr lang="en-US" sz="26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: Testing integration with key digital brokerages and financials platforms 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300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The Vision </a:t>
            </a:r>
            <a:r>
              <a:rPr lang="en-US" sz="26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 Antiqua" panose="02040602050305030304" pitchFamily="18" charset="0"/>
              </a:rPr>
              <a:t>: </a:t>
            </a:r>
            <a:r>
              <a:rPr lang="en-US" sz="26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Setting a new benchmark where financial scams are stopped before they even begin .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US" sz="48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THANKYOU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200" cap="none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Empowering safety ,transforming lives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600" cap="none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600" cap="none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US" sz="2600" cap="none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1613DB-CCB2-4693-A805-CC71079382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1454" y="2396691"/>
            <a:ext cx="4556460" cy="4095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842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454"/>
    </mc:Choice>
    <mc:Fallback>
      <p:transition spd="slow" advTm="454"/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arallax">
  <a:themeElements>
    <a:clrScheme name="Parallax">
      <a:dk1>
        <a:sysClr val="windowText" lastClr="000000"/>
      </a:dk1>
      <a:lt1>
        <a:sysClr val="window" lastClr="FFFFFF"/>
      </a:lt1>
      <a:dk2>
        <a:srgbClr val="212121"/>
      </a:dk2>
      <a:lt2>
        <a:srgbClr val="CDD0D1"/>
      </a:lt2>
      <a:accent1>
        <a:srgbClr val="30ACEC"/>
      </a:accent1>
      <a:accent2>
        <a:srgbClr val="80C34F"/>
      </a:accent2>
      <a:accent3>
        <a:srgbClr val="E29D3E"/>
      </a:accent3>
      <a:accent4>
        <a:srgbClr val="D64A3B"/>
      </a:accent4>
      <a:accent5>
        <a:srgbClr val="D64787"/>
      </a:accent5>
      <a:accent6>
        <a:srgbClr val="A666E1"/>
      </a:accent6>
      <a:hlink>
        <a:srgbClr val="3085ED"/>
      </a:hlink>
      <a:folHlink>
        <a:srgbClr val="82B6F4"/>
      </a:folHlink>
    </a:clrScheme>
    <a:fontScheme name="Parallax">
      <a:maj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HGｺﾞｼｯｸM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arallax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04000"/>
              </a:schemeClr>
            </a:gs>
            <a:gs pos="100000">
              <a:schemeClr val="phClr">
                <a:tint val="84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2000"/>
              </a:schemeClr>
            </a:gs>
            <a:gs pos="100000">
              <a:schemeClr val="phClr">
                <a:shade val="88000"/>
                <a:lumMod val="94000"/>
              </a:schemeClr>
            </a:gs>
          </a:gsLst>
          <a:path path="circle">
            <a:fillToRect l="50000" t="100000" r="100000" b="50000"/>
          </a:path>
        </a:gradFill>
      </a:fillStyleLst>
      <a:lnStyleLst>
        <a:ln w="9525" cap="rnd" cmpd="sng" algn="ctr">
          <a:solidFill>
            <a:schemeClr val="phClr">
              <a:tint val="6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reflection blurRad="12700" stA="26000" endPos="32000" dist="12700" dir="5400000" sy="-100000" rotWithShape="0"/>
          </a:effectLst>
        </a:effectStyle>
        <a:effectStyle>
          <a:effectLst>
            <a:outerShdw blurRad="38100" dist="25400" dir="5400000" rotWithShape="0">
              <a:srgbClr val="000000">
                <a:alpha val="64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25400" h="127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6000"/>
                <a:satMod val="180000"/>
              </a:schemeClr>
              <a:schemeClr val="phClr">
                <a:tint val="80000"/>
                <a:satMod val="120000"/>
                <a:lumMod val="18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allax" id="{3388167B-A2EB-4685-9635-1831D9AEF8C4}" vid="{4F7A876A-7598-49CA-AFC8-8EDA2551E4A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TM03457496[[fn=Parallax]]</Template>
  <TotalTime>262</TotalTime>
  <Words>368</Words>
  <Application>Microsoft Office PowerPoint</Application>
  <PresentationFormat>Widescreen</PresentationFormat>
  <Paragraphs>37</Paragraphs>
  <Slides>7</Slides>
  <Notes>0</Notes>
  <HiddenSlides>0</HiddenSlides>
  <MMClips>4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Book Antiqua</vt:lpstr>
      <vt:lpstr>Corbel</vt:lpstr>
      <vt:lpstr>Parallax</vt:lpstr>
      <vt:lpstr>Sangyan  investor resilience hackathon</vt:lpstr>
      <vt:lpstr>Challenge track &amp; Mission </vt:lpstr>
      <vt:lpstr>Problem statement </vt:lpstr>
      <vt:lpstr>Proposed solution </vt:lpstr>
      <vt:lpstr>How it works </vt:lpstr>
      <vt:lpstr>Impact &amp; benefits 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Sangyan  investor resilience hackathon</dc:title>
  <dc:creator>HP</dc:creator>
  <cp:lastModifiedBy>HP</cp:lastModifiedBy>
  <cp:revision>4</cp:revision>
  <dcterms:created xsi:type="dcterms:W3CDTF">2026-10-04T06:58:53Z</dcterms:created>
  <dcterms:modified xsi:type="dcterms:W3CDTF">2026-10-04T16:17:12Z</dcterms:modified>
</cp:coreProperties>
</file>